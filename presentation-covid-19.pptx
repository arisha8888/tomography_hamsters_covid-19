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1106424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3D-визуализация лёгких хомяков,</a:t>
            </a:r>
            <a:endParaRPr lang="en-US" sz="3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инфицированных SARS-CoV-2,</a:t>
            </a:r>
            <a:endParaRPr lang="en-US" sz="3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с помощью фазово-контрастной</a:t>
            </a:r>
            <a:endParaRPr lang="en-US" sz="3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рентгеновской томографии</a:t>
            </a:r>
            <a:endParaRPr lang="en-US" sz="3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для тестирования лекарств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4023360"/>
            <a:ext cx="1828800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2519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Reichmann J., Sarrazin C., Schmale S., Blaurock C.,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Balkema-Buschmann A., Schmitzer B., Salditt 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502920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CC3D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Scientific Reports (2024) 14:12348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CC3D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doi.org/10.1038/s41598-024-61746-4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84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Презентация научной статьи  •  НГУ  •  2026</a:t>
            </a:r>
            <a:endParaRPr lang="en-US" sz="1300" dirty="0"/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7186295" y="5288280"/>
            <a:ext cx="4622165" cy="10280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ru-RU" altLang="en-US"/>
              <a:t>разбор статьи и презентацию выполнила</a:t>
            </a:r>
            <a:r>
              <a:rPr lang="en-US" altLang="en-US"/>
              <a:t>:</a:t>
            </a:r>
            <a:br>
              <a:rPr lang="en-US" altLang="en-US"/>
            </a:br>
            <a:r>
              <a:rPr lang="ru-RU" altLang="en-US"/>
              <a:t>Шевлякова Арина Максимовна, гр 23205 ФИТ НГУ</a:t>
            </a:r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Постановка задачи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972800" y="292608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/ 12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33856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Проблема 3D-гистопатологии в эпоху Covid-19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611880" cy="4206240"/>
          </a:xfrm>
          <a:prstGeom prst="rect">
            <a:avLst/>
          </a:prstGeom>
          <a:solidFill>
            <a:srgbClr val="EAF1F5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011680"/>
            <a:ext cx="10972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Объём выборки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320040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XPCT даёт красивые 3D-картинки, но сканируется по 2–3 часа на образец → редко берут N&gt;10. Для скрининга лекарств этого мало.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70248" y="1828800"/>
            <a:ext cx="3611880" cy="4206240"/>
          </a:xfrm>
          <a:prstGeom prst="rect">
            <a:avLst/>
          </a:prstGeom>
          <a:solidFill>
            <a:srgbClr val="EAF1F5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53128" y="2011680"/>
            <a:ext cx="10972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4544568" y="329184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Количественные метрики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44568" y="3931920"/>
            <a:ext cx="320040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Визуально отличить «здоровое» от «больного» можно, но нужна объективная морфометрика, не зависящая от глаза эксперта.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83296" y="1828800"/>
            <a:ext cx="3611880" cy="4206240"/>
          </a:xfrm>
          <a:prstGeom prst="rect">
            <a:avLst/>
          </a:prstGeom>
          <a:solidFill>
            <a:srgbClr val="EAF1F5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66176" y="2011680"/>
            <a:ext cx="10972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8357616" y="329184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Классификация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57616" y="3931920"/>
            <a:ext cx="320040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В каждом 3D-объёме — миллионы признаков. Нужно сжать в 1–2 числа, по которым можно оценить эффект лекарства.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6217920"/>
            <a:ext cx="11338560" cy="502920"/>
          </a:xfrm>
          <a:prstGeom prst="rect">
            <a:avLst/>
          </a:prstGeom>
          <a:solidFill>
            <a:srgbClr val="21295C"/>
          </a:solidFill>
        </p:spPr>
      </p:sp>
      <p:sp>
        <p:nvSpPr>
          <p:cNvPr id="19" name="Text 17"/>
          <p:cNvSpPr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Цель статьи: интегрированный пайплайн «XPCT-скан → морфометрика → OT-классификация» для пред-клинических испытаний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Что такое XPCT и почему именно лёгкие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972800" y="292608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/ 12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33856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5943600" cy="5212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Contrast Tomography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Кроме поглощения, рентген меняет фазу волны при прохождении через ткань. Эту фазу восстанавливают по специальным алгоритмам (Paganin, CTF).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Зачем фаза?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Мягкие ткани слабо поглощают рентген (низкий контраст). Но они сильно меняют фазу — отсюда чёткое изображение септ и просветов альвеол при 1.6 мкм/пиксель.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Почему модель: хомяк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Мыши плохо заражаются SARS-CoV-2; золотистые сирийские хомяки — стандартная модель Covid-19. 45 хомяков × 9 групп = 7 дней инфекции, потом FFPE-биопсия 3 мм.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75120" y="118872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Сравнение трёх установок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75120" y="1783080"/>
            <a:ext cx="109728" cy="118872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8" name="Text 6"/>
          <p:cNvSpPr/>
          <p:nvPr/>
        </p:nvSpPr>
        <p:spPr>
          <a:xfrm>
            <a:off x="6903720" y="178308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Лаборат. µCT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903720" y="2148840"/>
            <a:ext cx="48920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px: </a:t>
            </a:r>
            <a:r>
              <a:rPr lang="en-US" sz="13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1.63 мкм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FOV: </a:t>
            </a:r>
            <a:r>
              <a:rPr lang="en-US" sz="13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3.3 × 2.2 мм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scan: </a:t>
            </a:r>
            <a:r>
              <a:rPr lang="en-US" sz="13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125 мин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75120" y="3154680"/>
            <a:ext cx="109728" cy="118872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11" name="Text 9"/>
          <p:cNvSpPr/>
          <p:nvPr/>
        </p:nvSpPr>
        <p:spPr>
          <a:xfrm>
            <a:off x="6903720" y="315468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Synch. P10 / DESY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03720" y="3520440"/>
            <a:ext cx="48920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px: </a:t>
            </a:r>
            <a:r>
              <a:rPr lang="en-US" sz="13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0.65 мкм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FOV: </a:t>
            </a:r>
            <a:r>
              <a:rPr lang="en-US" sz="13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1.6 × 1.4 мм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scan: </a:t>
            </a:r>
            <a:r>
              <a:rPr lang="en-US" sz="13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1.25 мин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75120" y="4526280"/>
            <a:ext cx="109728" cy="1188720"/>
          </a:xfrm>
          <a:prstGeom prst="rect">
            <a:avLst/>
          </a:prstGeom>
          <a:solidFill>
            <a:srgbClr val="21295C"/>
          </a:solidFill>
        </p:spPr>
      </p:sp>
      <p:sp>
        <p:nvSpPr>
          <p:cNvPr id="14" name="Text 12"/>
          <p:cNvSpPr/>
          <p:nvPr/>
        </p:nvSpPr>
        <p:spPr>
          <a:xfrm>
            <a:off x="6903720" y="452628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Synch. ID16A / ESRF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03720" y="4892040"/>
            <a:ext cx="48920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px: </a:t>
            </a:r>
            <a:r>
              <a:rPr lang="en-US" sz="13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0.09 мкм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FOV: </a:t>
            </a:r>
            <a:r>
              <a:rPr lang="en-US" sz="13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0.29 × 0.29 мм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scan: </a:t>
            </a:r>
            <a:r>
              <a:rPr lang="en-US" sz="13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180 мин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75120" y="608076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Ключевой выбор: только лабораторный µCT — синхротрон лишь для валидации. Доступно для любой лаборатории.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Данные: 45 хомяков, 9 групп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972800" y="292608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/ 12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33856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Структура эксперимента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57200" y="1691640"/>
          <a:ext cx="6400800" cy="2468880"/>
        </p:xfrm>
        <a:graphic>
          <a:graphicData uri="http://schemas.openxmlformats.org/drawingml/2006/table">
            <a:tbl>
              <a:tblPr/>
              <a:tblGrid>
                <a:gridCol w="1371600"/>
                <a:gridCol w="3931920"/>
                <a:gridCol w="1097280"/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Группа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Что это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UNI-CTRL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не инфицировали, не лечили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PEG-CTRL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плацебо — растворитель PEG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PBS-CTRL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плацебо — физраствор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B23B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POS-CTRL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B23B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инфицировали, не лечили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23B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Drug 1–5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729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инфицировали + 5 разных лекарств-кандидатов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729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 × 8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0" y="118872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Подготовка образца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0" y="173736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День 0  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Заражение SARS-CoV-2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Дни 1–7  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Введение лекарства (перорально, в нос или в брюшину)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День 7  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Усыпление, извлечение лёгкого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+1  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Фиксация в 10% формальдегиде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+1  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FFPE: спирты → ксилол → парафин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+1  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Биопсия Ø 3 мм на латунный штифт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+1  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До 10 образцов в Kapton-трубке → сканируем стопкой за один прогон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5897880"/>
            <a:ext cx="11338560" cy="777240"/>
          </a:xfrm>
          <a:prstGeom prst="rect">
            <a:avLst/>
          </a:prstGeom>
          <a:solidFill>
            <a:srgbClr val="EAF1F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943600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Lung Affection Score (LAS): 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макроскопическая визуальная оценка от 0 (здоров) до 100 (тяжело). Контрольная группа служит обучающей; 5 «лекарственных» групп — тестовые. Метод должен дать непрерывный score, который замещает субъективный LAS.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Вычислительный пайплайн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972800" y="292608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/ 12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33856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pic>
        <p:nvPicPr>
          <p:cNvPr id="5" name="Image 0" descr="/home/claude/xpct_demo/figs/pipeline_schem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11430000" cy="2194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520440"/>
            <a:ext cx="11338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Что важно понять про каждый этап: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4069080"/>
            <a:ext cx="73152" cy="237744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8" name="Text 5"/>
          <p:cNvSpPr/>
          <p:nvPr/>
        </p:nvSpPr>
        <p:spPr>
          <a:xfrm>
            <a:off x="621792" y="40690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Otsu + морфология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1792" y="4617720"/>
            <a:ext cx="260604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Минимум параметров: один порог + два радиуса (3 пкс opening, 1 пкс closing). Воспроизводимо между образцами.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4069080"/>
            <a:ext cx="73152" cy="237744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11" name="Text 8"/>
          <p:cNvSpPr/>
          <p:nvPr/>
        </p:nvSpPr>
        <p:spPr>
          <a:xfrm>
            <a:off x="3456432" y="40690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CLD = run-length по случайным линиям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456432" y="4617720"/>
            <a:ext cx="260604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Двухфазная маска → проводим случайные хорды, считаем длины сегментов в каждой фазе. Распределение и есть PDF.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26480" y="4069080"/>
            <a:ext cx="73152" cy="2377440"/>
          </a:xfrm>
          <a:prstGeom prst="rect">
            <a:avLst/>
          </a:prstGeom>
          <a:solidFill>
            <a:srgbClr val="21295C"/>
          </a:solidFill>
        </p:spPr>
      </p:sp>
      <p:sp>
        <p:nvSpPr>
          <p:cNvPr id="14" name="Text 11"/>
          <p:cNvSpPr/>
          <p:nvPr/>
        </p:nvSpPr>
        <p:spPr>
          <a:xfrm>
            <a:off x="6291072" y="40690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Перевзвешивание PDF × L_c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291072" y="4617720"/>
            <a:ext cx="260604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Смещает массу к длинным хордам — туда, где сидит патологический сигнал (утолщённые септы, слипшиеся пространства).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961120" y="4069080"/>
            <a:ext cx="73152" cy="2377440"/>
          </a:xfrm>
          <a:prstGeom prst="rect">
            <a:avLst/>
          </a:prstGeom>
          <a:solidFill>
            <a:srgbClr val="21295C"/>
          </a:solidFill>
        </p:spPr>
      </p:sp>
      <p:sp>
        <p:nvSpPr>
          <p:cNvPr id="17" name="Text 14"/>
          <p:cNvSpPr/>
          <p:nvPr/>
        </p:nvSpPr>
        <p:spPr>
          <a:xfrm>
            <a:off x="9125712" y="40690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Обратная CDF → L²-вектор → PCA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125712" y="4617720"/>
            <a:ext cx="260604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Каждый образец = точка в R^256. PCA даёт 2 компоненты, объясняющие ~98% дисперсии. PC1 = score патологии.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Шаги 2–3: сегментация и Chord Length Distribution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972800" y="292608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/ 12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33856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11338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Двухфазная модель: ткань (септы) vs воздух (просвет)</a:t>
            </a:r>
            <a:endParaRPr lang="en-US" sz="1700" dirty="0"/>
          </a:p>
        </p:txBody>
      </p:sp>
      <p:pic>
        <p:nvPicPr>
          <p:cNvPr id="6" name="Image 0" descr="/home/claude/xpct_demo/figs/cell06_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4937760" cy="4663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008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Слева — синтетические «срезы» (имитация XPCT-данных).</a:t>
            </a:r>
            <a:endParaRPr lang="en-US" sz="1000" dirty="0"/>
          </a:p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Справа — маски после Otsu + opening/closing.</a:t>
            </a:r>
            <a:endParaRPr lang="en-US" sz="1000" dirty="0"/>
          </a:p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Видно: у больного септы толще, альвеолы крупнее и слипшиеся.</a:t>
            </a:r>
            <a:endParaRPr lang="en-US" sz="1000" dirty="0"/>
          </a:p>
        </p:txBody>
      </p:sp>
      <p:pic>
        <p:nvPicPr>
          <p:cNvPr id="8" name="Image 1" descr="/home/claude/xpct_demo/figs/cld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91640"/>
            <a:ext cx="6126480" cy="34107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0" y="5212080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Как читать график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669280" y="5577840"/>
            <a:ext cx="61264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L_c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длина хорды (отрезка прямой) в фазе септ.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77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Синий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(здоровый): острый пик при малых L_c — много тонких регулярных септ.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23B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Красный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(больной): пик ниже, хвост длиннее → септы толще и более разнообразные по толщине.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Ключевая идея: Optimal Transport через обратную CDF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972800" y="292608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/ 12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33856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pic>
        <p:nvPicPr>
          <p:cNvPr id="5" name="Image 0" descr="/home/claude/xpct_demo/figs/formula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097280"/>
            <a:ext cx="10241280" cy="31729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52628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Почему это </a:t>
            </a:r>
            <a:r>
              <a:rPr lang="ru-RU" altLang="en-US" sz="1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хорошо </a:t>
            </a:r>
            <a:r>
              <a:rPr lang="en-US" sz="1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работает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5074920"/>
            <a:ext cx="365760" cy="365760"/>
          </a:xfrm>
          <a:prstGeom prst="ellipse">
            <a:avLst/>
          </a:prstGeom>
          <a:solidFill>
            <a:srgbClr val="F39C12"/>
          </a:solidFill>
        </p:spPr>
      </p:sp>
      <p:sp>
        <p:nvSpPr>
          <p:cNvPr id="8" name="Text 5"/>
          <p:cNvSpPr/>
          <p:nvPr/>
        </p:nvSpPr>
        <p:spPr>
          <a:xfrm>
            <a:off x="457200" y="50749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502920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Геометрически правильно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553212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L² на исходных PDF слепнет: «сдвиг распределения вправо» = «полная замена». W₂ видит сдвиг как сдвиг.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70248" y="5074920"/>
            <a:ext cx="365760" cy="365760"/>
          </a:xfrm>
          <a:prstGeom prst="ellipse">
            <a:avLst/>
          </a:prstGeom>
          <a:solidFill>
            <a:srgbClr val="F39C12"/>
          </a:solidFill>
        </p:spPr>
      </p:sp>
      <p:sp>
        <p:nvSpPr>
          <p:cNvPr id="12" name="Text 9"/>
          <p:cNvSpPr/>
          <p:nvPr/>
        </p:nvSpPr>
        <p:spPr>
          <a:xfrm>
            <a:off x="4270248" y="50749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773168" y="502920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Численно дёшево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270248" y="553212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Решение OT-задачи в общем виде — линейное программирование O(n³). В 1D — это просто np.interp.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083296" y="5074920"/>
            <a:ext cx="365760" cy="365760"/>
          </a:xfrm>
          <a:prstGeom prst="ellipse">
            <a:avLst/>
          </a:prstGeom>
          <a:solidFill>
            <a:srgbClr val="F39C12"/>
          </a:solidFill>
        </p:spPr>
      </p:sp>
      <p:sp>
        <p:nvSpPr>
          <p:cNvPr id="16" name="Text 13"/>
          <p:cNvSpPr/>
          <p:nvPr/>
        </p:nvSpPr>
        <p:spPr>
          <a:xfrm>
            <a:off x="8083296" y="50749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586216" y="502920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Линейная алгебра 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083296" y="553212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В пространстве обратных CDF любой стандартный метод (PCA, SVM, kNN, t-SNE) работает с правильной OT-метрикой.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Технические особенности и метрики качества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972800" y="292608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/ 12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33856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Параметры и числа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457200" y="1691640"/>
          <a:ext cx="5303520" cy="3291840"/>
        </p:xfrm>
        <a:graphic>
          <a:graphicData uri="http://schemas.openxmlformats.org/drawingml/2006/table">
            <a:tbl>
              <a:tblPr/>
              <a:tblGrid>
                <a:gridCol w="2103120"/>
                <a:gridCol w="3200400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Параметр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Значение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µCT источник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60 кВ, 6.6 Вт, W-анод, LaB6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Эфф. размер вокселя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1.63 мкм/px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Проекций на скан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1568 × 4 кадра (медиана)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Phase retrieval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Paganin (single-distance)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Реконструкция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FDK (cone-beam)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Сегментация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Otsu + opening 3 px / closing 1 px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случайные хорды по Брезенхэму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OT-эмбеддинг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обратные CDF, библиотека LinOT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Снижение размерности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PCA, 2 компоненты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035040" y="1143000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Метрики и оценка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035040" y="1691640"/>
            <a:ext cx="5760720" cy="4846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Качество классификации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Авторы не используют классические метрики (accuracy/F1) — выборка слишком мала. Вместо этого: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3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Доля дисперсии PC1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 97.8% — почти вся изменчивость данных умещается в одной оси.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3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Разделение контролей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 12 из 14 хомяков чисто разделены по знаку PC1. Два исключения — биологически объяснимые «случайно слабо инфицированный»/«случайно слабо здоровый».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3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Интерпретируемость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 можно пройти назад от точки в PCA-пространстве и нарисовать соответствующее «гипотетическое CLD» — видно, как именно меняется морфология вдоль PC1.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Вычислительные ресурсы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Никаких GPU. Весь анализ — CPU + numpy/scipy/sklearn. Сегментация + CLD одного объёма — порядка минут.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Основные результаты статьи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972800" y="292608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/ 12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33856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(a) Контрольные группы в PCA-пространстве — Fig. 5 статьи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55080" y="11430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(b) Лекарства, проецированные на PC1 — Fig. 6 статьи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760720" cy="3931920"/>
          </a:xfrm>
          <a:prstGeom prst="rect">
            <a:avLst/>
          </a:prstGeom>
          <a:solidFill>
            <a:srgbClr val="EAF1F5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5394960" cy="3749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PCA1 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(горизонталь): 97.8% дисперсии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PCA2 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(вертикаль): 1.5%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Результат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PC1&lt;0 → </a:t>
            </a:r>
            <a:r>
              <a:rPr lang="en-US" sz="1300" b="1" dirty="0">
                <a:solidFill>
                  <a:srgbClr val="1F77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ЗДОРОВЫЕ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PC1&gt;0 → </a:t>
            </a:r>
            <a:r>
              <a:rPr lang="en-US" sz="1300" b="1" dirty="0">
                <a:solidFill>
                  <a:srgbClr val="B23B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БОЛЬНЫЕ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12 из 14 хомяков классифицируются правильно без обучения с учителем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Хомяк H59 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был обнаружен как выброс автоматически (трещина в парафине, артефакт препарата) и удалён.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600200"/>
            <a:ext cx="5486400" cy="3931920"/>
          </a:xfrm>
          <a:prstGeom prst="rect">
            <a:avLst/>
          </a:prstGeom>
          <a:solidFill>
            <a:srgbClr val="EAF1F5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691640"/>
            <a:ext cx="5120640" cy="3749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Каждое лекарство = 8 хомяков, спроецированных на PC1, обученный на контрольных.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B23B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Drug 1, 2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PC1 высокий (~+σ₁): лекарство не помогло, лёгкие остались патологичными.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77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Drug 3, 4, 5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PC1 в среднем отрицательный: морфология вернулась к норме → лекарство потенциально эффективно.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Важно: 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авторы НЕ знали, какое лекарство какое — слепое тестирование. Метод сам выдаёт ранжирование.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5806440"/>
            <a:ext cx="11338560" cy="868680"/>
          </a:xfrm>
          <a:prstGeom prst="rect">
            <a:avLst/>
          </a:prstGeom>
          <a:solidFill>
            <a:srgbClr val="21295C"/>
          </a:solidFill>
        </p:spPr>
      </p:sp>
      <p:sp>
        <p:nvSpPr>
          <p:cNvPr id="12" name="Text 10"/>
          <p:cNvSpPr/>
          <p:nvPr/>
        </p:nvSpPr>
        <p:spPr>
          <a:xfrm>
            <a:off x="640080" y="585216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Главный результат: автоматический OT/PCA-пайплайн заменяет операторозависимый Lung Affection Score, даёт непрерывный score патологии и ранжирует лекарства в слепом эксперименте.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Сильные стороны и ограничения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972800" y="292608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/ 12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33856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5577840" cy="50292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6" name="Text 4"/>
          <p:cNvSpPr/>
          <p:nvPr/>
        </p:nvSpPr>
        <p:spPr>
          <a:xfrm>
            <a:off x="640080" y="1207008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Сильные стороны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5212080" cy="4754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Математически прозрачно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Каждый шаг имеет ясную интерпретацию. Никаких «чёрных ящиков» CNN, никаких миллионов параметров.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Работает с малыми N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Для CNN нужно сотни примеров на класс; здесь всё работает на N=13. Это критически важно для биомедицины.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Лабораторный µCT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Не требует доступа к синхротрону. Любой институт со стандартным µCT-сканером может повторить.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Обратимый эмбеддинг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Из точки в PCA-пространстве можно восстановить «гипотетическое CLD» — это редкое и ценное свойство.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188720"/>
            <a:ext cx="5577840" cy="502920"/>
          </a:xfrm>
          <a:prstGeom prst="rect">
            <a:avLst/>
          </a:prstGeom>
          <a:solidFill>
            <a:srgbClr val="8B3A3A"/>
          </a:solidFill>
        </p:spPr>
      </p:sp>
      <p:sp>
        <p:nvSpPr>
          <p:cNvPr id="9" name="Text 7"/>
          <p:cNvSpPr/>
          <p:nvPr/>
        </p:nvSpPr>
        <p:spPr>
          <a:xfrm>
            <a:off x="6446520" y="1207008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Ограничения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46520" y="1783080"/>
            <a:ext cx="5212080" cy="4754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8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Малый N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хомяков на лекарство — недостаточно для статистически строгого утверждения об эффективности. Только ранжирование.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8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Только одномерная морфометрика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CLD — это одно число на каждый L_c. Многомерные признаки (формы клеток, ангиогенез) теряются.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8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Зависит от качества сегментации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Артефакт препарата (трещина в парафине у H59) ломает CLD. Нужна ручная проверка выбросов.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8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Нет открытого кода и данных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Авторы обещают релиз сырых данных через 2 года после beamtime. На момент публикации (2024) — нет публичного репозитория.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Что я воспроизвёл</a:t>
            </a:r>
            <a:r>
              <a:rPr lang="ru-RU" altLang="en-US" sz="2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а</a:t>
            </a:r>
            <a:r>
              <a:rPr lang="en-US" sz="2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самостоятельно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972800" y="292608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/ 12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33856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11338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Авторы не опубликовали код — реализовал</a:t>
            </a:r>
            <a:r>
              <a:rPr lang="ru-RU" altLang="en-US" sz="1600" i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а</a:t>
            </a:r>
            <a:r>
              <a:rPr lang="en-US" sz="1600" i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весь пайплайн с нуля по описанию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Контроль (мой результат)</a:t>
            </a:r>
            <a:endParaRPr lang="en-US" sz="1400" dirty="0"/>
          </a:p>
        </p:txBody>
      </p:sp>
      <p:pic>
        <p:nvPicPr>
          <p:cNvPr id="7" name="Image 0" descr="/home/claude/xpct_demo/figs/cell17_0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57400"/>
            <a:ext cx="5669280" cy="4480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09360" y="1645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Лекарства (мой результат)</a:t>
            </a:r>
            <a:endParaRPr lang="en-US" sz="1400" dirty="0"/>
          </a:p>
        </p:txBody>
      </p:sp>
      <p:pic>
        <p:nvPicPr>
          <p:cNvPr id="9" name="Image 1" descr="/home/claude/xpct_demo/figs/cell20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57400"/>
            <a:ext cx="5486400" cy="33832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09360" y="5532120"/>
            <a:ext cx="54864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PC1 объясняет 95.0% дисперсии  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(в статье 97.8%).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Drug 1, 2: PC1 ≈ +0.8σ₁ — «не помогли»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Drug 4, 5: PC1 ≈ −1.2σ₁ — «помогли»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Drug 3: промежуточная эффективность 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Мой вывод: что в этой работе важно для 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972800" y="292608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/ 12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33856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731520" cy="731520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6" name="Text 4"/>
          <p:cNvSpPr/>
          <p:nvPr/>
        </p:nvSpPr>
        <p:spPr>
          <a:xfrm>
            <a:off x="548640" y="118872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63040" y="118872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Идеальная иллюстрация роли математики в анализе изображений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63040" y="164592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Один раз правильно выбранная метрика (W₂ через обратную CDF) заменяет тысячи параметров CNN. Это редкий пример, когда классический ML обходит deep learning без подгонки.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731520" cy="731520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0" name="Text 8"/>
          <p:cNvSpPr/>
          <p:nvPr/>
        </p:nvSpPr>
        <p:spPr>
          <a:xfrm>
            <a:off x="548640" y="25146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463040" y="251460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Воспроизводимость через простоту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63040" y="297180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Весь пайплайн = numpy + scipy + sklearn + skimage. Никаких GPU, фреймворков, спецстенда. Любой студент может реализовать за день</a:t>
            </a:r>
            <a:r>
              <a:rPr lang="ru-RU" alt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ru-RU" altLang="en-US" sz="1300" dirty="0">
              <a:solidFill>
                <a:srgbClr val="1A1A1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731520" cy="731520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4" name="Text 12"/>
          <p:cNvSpPr/>
          <p:nvPr/>
        </p:nvSpPr>
        <p:spPr>
          <a:xfrm>
            <a:off x="548640" y="384048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463040" y="384048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Объяснимость &gt; точности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63040" y="429768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Метод даёт не «диагноз», а интерпретируемый score патологии. Это критически важно для регулируемых областей (медицина, биомедицина, фарма), где CNN-черный-ящик не пройдёт.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166360"/>
            <a:ext cx="731520" cy="731520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8" name="Text 16"/>
          <p:cNvSpPr/>
          <p:nvPr/>
        </p:nvSpPr>
        <p:spPr>
          <a:xfrm>
            <a:off x="548640" y="516636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463040" y="516636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Обобщаемость на другие задачи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63040" y="562356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Тот же пайплайн (двухфазная морфометрика + LOT-эмбеддинг + PCA) применим к материалам, бетону, пористым средам, графам, гистологии любой ткани. Я бы попробовал</a:t>
            </a:r>
            <a:r>
              <a:rPr lang="ru-RU" alt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а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такой же подход для МРТ-данных.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6400800"/>
            <a:ext cx="11338560" cy="411480"/>
          </a:xfrm>
          <a:prstGeom prst="rect">
            <a:avLst/>
          </a:prstGeom>
          <a:solidFill>
            <a:srgbClr val="21295C"/>
          </a:solidFill>
        </p:spPr>
      </p:sp>
      <p:sp>
        <p:nvSpPr>
          <p:cNvPr id="22" name="Text 20"/>
          <p:cNvSpPr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Спасибо за внимание.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8517</Words>
  <Application>WPS Presentation</Application>
  <PresentationFormat>On-screen Show (16:9)</PresentationFormat>
  <Paragraphs>356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XPCT-визуализация лёгких хомяков, инфицированных SARS-CoV-2</dc:title>
  <dc:creator>Студент НГУ</dc:creator>
  <dc:subject>PptxGenJS Presentation</dc:subject>
  <cp:lastModifiedBy>Эльдорадо</cp:lastModifiedBy>
  <cp:revision>2</cp:revision>
  <dcterms:created xsi:type="dcterms:W3CDTF">2026-05-18T08:39:00Z</dcterms:created>
  <dcterms:modified xsi:type="dcterms:W3CDTF">2026-05-20T14:59:12Z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1049-12.1.0.26372</vt:lpwstr>
  </property>
  <property fmtid="{D5CDD505-2E9C-101B-9397-08002B2CF9AE}" pid="3" name="ICV">
    <vt:lpwstr>0A3B8EFAA0344F169532A0A6E2C24305_13</vt:lpwstr>
  </property>
</Properties>
</file>